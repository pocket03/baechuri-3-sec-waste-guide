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200" b="1">
                <a:solidFill>
                  <a:srgbClr val="ff5d00"/>
                </a:solidFill>
                <a:latin typeface="맑은 고딕"/>
                <a:ea typeface="맑은 고딕"/>
                <a:cs typeface="맑은 고딕"/>
              </a:rPr>
              <a:t>1강 워크시트</a:t>
            </a:r>
            <a:r>
              <a:rPr lang="en-US" sz="12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 ·  Claude Code 입문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r">
              <a:buNone/>
              <a:defRPr/>
            </a:pPr>
            <a:r>
              <a:rPr lang="en-US" sz="11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이름: 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r">
              <a:buNone/>
              <a:defRPr/>
            </a:pPr>
            <a:r>
              <a:rPr lang="en-US" sz="85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1 / 2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95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✏️ 개인별로 작성합니다. 파일 이름 뒤에 본인 이름을 붙이세요. 예: 1강 워크시트 — 김멋사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35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워크시트 2 · 첫 대화 기록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621792" y="1609344"/>
            <a:ext cx="8065008" cy="25603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000">
                <a:solidFill>
                  <a:srgbClr val="555555"/>
                </a:solidFill>
                <a:latin typeface="맑은 고딕"/>
                <a:ea typeface="맑은 고딕"/>
                <a:cs typeface="맑은 고딕"/>
              </a:rPr>
              <a:t>AI와 나눈 첫 대화를 한 줄로 남깁니다.</a:t>
            </a:r>
            <a:endParaRPr lang="en-US" sz="100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1938528"/>
          <a:ext cx="8229600" cy="1664208"/>
        </p:xfrm>
        <a:graphic>
          <a:graphicData uri="http://schemas.openxmlformats.org/drawingml/2006/table">
            <a:tbl>
              <a:tblGrid>
                <a:gridCol w="2377440"/>
                <a:gridCol w="5852160"/>
              </a:tblGrid>
              <a:tr h="292608"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5d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3ea"/>
                    </a:solidFill>
                  </a:tcPr>
                </a:tc>
              </a:tr>
              <a:tr h="457200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내가 보낸 첫 지시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카톡으로 받은 워크시트 2개(1강·2강)를 123456 폴더의 환경문제 리서치 템플릿을 참고해서 채워달라고 요청 (필요하면 인터뷰 질문 가능)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57200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AI가 한 일 (한 줄 요약)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워크시트·템플릿을 먼저 파악하고 인터뷰로 진행 방식을 확인한 뒤, 관심 사회문제를 웹 리서치로 조사해 채움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57200"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웹페이지 캡처 붙이기</a:t>
                      </a: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54864" tIns="54864" rIns="54864" bIns="54864" anchor="ctr" anchorCtr="0"/>
                    <a:p>
                      <a:pPr marL="0" lvl="0" indent="0" algn="l">
                        <a:buNone/>
                        <a:defRPr/>
                      </a:pPr>
                      <a:endParaRPr lang="en-US" sz="10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3730752"/>
            <a:ext cx="8138160" cy="23774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05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☐   화면이 브라우저에 떴다</a:t>
            </a:r>
            <a:endParaRPr lang="en-US" sz="1050"/>
          </a:p>
        </p:txBody>
      </p:sp>
      <p:sp>
        <p:nvSpPr>
          <p:cNvPr id="14" name="Text 11"/>
          <p:cNvSpPr/>
          <p:nvPr/>
        </p:nvSpPr>
        <p:spPr>
          <a:xfrm>
            <a:off x="548640" y="3986784"/>
            <a:ext cx="8138160" cy="23774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l">
              <a:buNone/>
              <a:defRPr/>
            </a:pPr>
            <a:r>
              <a:rPr lang="en-US" sz="105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☐   계획(Plan)을 읽고 승인했다</a:t>
            </a:r>
            <a:endParaRPr lang="en-US" sz="105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910333" y="3131072"/>
            <a:ext cx="1964728" cy="2012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Claude Code 입문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이름: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3 · 관심 사회문제 메모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1521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 팀빌딩의 재료가 됩니다. 사실은 내 말로 요약하고, 출처는 직접 열어 확인합니다.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813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사회문제: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65960" y="1719072"/>
            <a:ext cx="672084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11680" y="1508760"/>
            <a:ext cx="6629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폐배터리·보조배터리 위험 진단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128016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사실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링크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날짜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서울에서 이달(2026년 5월) 최소 6건의 보조배터리 화재·발연 사고가 발생했지만, 소방청은 "관련 통계를 별도로 관리하지 않는다"고 밝혔다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https://www.khan.co.kr/article/202605200600121/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2026-08-05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2025년 8월 서울 마포구 아파트에서 리튬이온 배터리팩 폭발로 2명이 사망했고, 전문가는 "열 폭주" 위험 때문에 밀폐공간(지하철·항공기)에 배터리 전용 소화기 비치가 시급하다고 지적한다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https://www.khan.co.kr/article/202605200600121/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2026-08-05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3127248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3145536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실제 인물의 이름·연락처 같은 개인정보는 수집하지 않습니다.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3584448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(2회차 전까지)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39867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관심 사회문제 1개 추가 (총 2개)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42428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내 강점 한 줄 정리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44988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Claude Code 로그인과 스타터 템플릿 폴더 확인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211</ep:Words>
  <ep:PresentationFormat>On-screen Show (16:9)</ep:PresentationFormat>
  <ep:Paragraphs>20</ep:Paragraphs>
  <ep:Slides>2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Office Theme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2026-07-29T15:22:02.000</dcterms:created>
  <dc:creator>PptxGenJS</dc:creator>
  <cp:lastModifiedBy>yjs25</cp:lastModifiedBy>
  <dcterms:modified xsi:type="dcterms:W3CDTF">2026-08-05T07:35:49.196</dcterms:modified>
  <cp:revision>2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